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Adaptive Timestep Spiking Neural Network for Energy-Efficient Brain Tumor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Biswajit Nahak</a:t>
            </a:r>
          </a:p>
          <a:p>
            <a:r>
              <a:t>Department of Computer Science</a:t>
            </a:r>
          </a:p>
          <a:p>
            <a:r>
              <a:t>[Your Institution]</a:t>
            </a:r>
          </a:p>
          <a:p>
            <a: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Introduction</a:t>
            </a:r>
          </a:p>
          <a:p>
            <a:r>
              <a:t>• Background &amp; Motivation</a:t>
            </a:r>
          </a:p>
          <a:p>
            <a:r>
              <a:t>• Problem Statement</a:t>
            </a:r>
          </a:p>
          <a:p>
            <a:r>
              <a:t>• Methodology &amp; Architecture</a:t>
            </a:r>
          </a:p>
          <a:p>
            <a:r>
              <a:t>• Experimental Setup</a:t>
            </a:r>
          </a:p>
          <a:p>
            <a:r>
              <a:t>• Results &amp; Analysis</a:t>
            </a:r>
          </a:p>
          <a:p>
            <a:r>
              <a:t>• Discussion</a:t>
            </a:r>
          </a:p>
          <a:p>
            <a:r>
              <a:t>• Conclusion</a:t>
            </a:r>
          </a:p>
          <a:p>
            <a:r>
              <a:t>• Future Work</a:t>
            </a:r>
          </a:p>
          <a:p>
            <a:r>
              <a:t>•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Brain tumor segmentation from MRI is critical for diagnosis and treatment planning</a:t>
            </a:r>
          </a:p>
          <a:p>
            <a:r>
              <a:t>• Traditional deep learning approaches are computationally expensive</a:t>
            </a:r>
          </a:p>
          <a:p>
            <a:r>
              <a:t>• Spiking Neural Networks (SNNs) offer energy-efficient alternatives</a:t>
            </a:r>
          </a:p>
          <a:p>
            <a:r>
              <a:t>• Our approach: Adaptive timestep SNN with intelligent resource allocation</a:t>
            </a:r>
          </a:p>
          <a:p/>
          <a:p>
            <a:r>
              <a:t>Key Innovation: Dynamic temporal processing based on image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Medical Image Segmentation:</a:t>
            </a:r>
          </a:p>
          <a:p>
            <a:r>
              <a:t>• U-Net architectures dominate medical imaging</a:t>
            </a:r>
          </a:p>
          <a:p>
            <a:r>
              <a:t>• CNNs achieve excellent performance but require high computational resources</a:t>
            </a:r>
          </a:p>
          <a:p>
            <a:r>
              <a:t>• Limited applicability in resource-constrained environments</a:t>
            </a:r>
          </a:p>
          <a:p/>
          <a:p>
            <a:r>
              <a:t>Spiking Neural Networks:</a:t>
            </a:r>
          </a:p>
          <a:p>
            <a:r>
              <a:t>• Event-driven processing mimicking biological neurons</a:t>
            </a:r>
          </a:p>
          <a:p>
            <a:r>
              <a:t>• Energy-efficient due to sparse spike-based communication</a:t>
            </a:r>
          </a:p>
          <a:p>
            <a:r>
              <a:t>• Temporal processing provides robustness to noise</a:t>
            </a:r>
          </a:p>
          <a:p/>
          <a:p>
            <a:r>
              <a:t>Adaptive Computing:</a:t>
            </a:r>
          </a:p>
          <a:p>
            <a:r>
              <a:t>• Dynamic resource allocation based on input complexity</a:t>
            </a:r>
          </a:p>
          <a:p>
            <a:r>
              <a:t>• Applied to network depth, resolution, and now temporal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Challenge:</a:t>
            </a:r>
          </a:p>
          <a:p>
            <a:r>
              <a:t>• Fixed temporal resolution in SNNs leads to inefficient processing</a:t>
            </a:r>
          </a:p>
          <a:p>
            <a:r>
              <a:t>• Background regions processed with same computational cost as complex tumor regions</a:t>
            </a:r>
          </a:p>
          <a:p>
            <a:r>
              <a:t>• High energy consumption limits deployment in clinical settings</a:t>
            </a:r>
          </a:p>
          <a:p/>
          <a:p>
            <a:r>
              <a:t>Research Question:</a:t>
            </a:r>
          </a:p>
          <a:p>
            <a:r>
              <a:t>• Can we dynamically allocate computational resources based on local image complexity?</a:t>
            </a:r>
          </a:p>
          <a:p>
            <a:r>
              <a:t>• How to maintain segmentation accuracy while reducing energy consumption?</a:t>
            </a:r>
          </a:p>
          <a:p/>
          <a:p>
            <a:r>
              <a:t>Hypothesis:</a:t>
            </a:r>
          </a:p>
          <a:p>
            <a:r>
              <a:t>• Adaptive temporal processing can achieve 25%+ energy reduction without accuracy 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C8DCFF"/>
          </a:solidFill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t>ADAPTIVE TIMESTEP SNN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828800" cy="548640"/>
          </a:xfrm>
          <a:prstGeom prst="rect">
            <a:avLst/>
          </a:prstGeom>
          <a:solidFill>
            <a:srgbClr val="DCFFDC"/>
          </a:solidFill>
        </p:spPr>
        <p:txBody>
          <a:bodyPr wrap="none">
            <a:spAutoFit/>
          </a:bodyPr>
          <a:lstStyle/>
          <a:p>
            <a:r>
              <a:t>Multimodal MRI</a:t>
            </a:r>
          </a:p>
          <a:p>
            <a:r>
              <a:t>(T1, T1c, T2, FLAIR)</a:t>
            </a:r>
          </a:p>
          <a:p>
            <a:r>
              <a:t>128×128×4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011680"/>
            <a:ext cx="2286000" cy="1645920"/>
          </a:xfrm>
          <a:prstGeom prst="rect">
            <a:avLst/>
          </a:prstGeom>
          <a:solidFill>
            <a:srgbClr val="FFDCDC"/>
          </a:solidFill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SPIKING U-NET BACKBONE</a:t>
            </a:r>
          </a:p>
          <a:p>
            <a:r>
              <a:t>• 4-stage Encoder-Decoder</a:t>
            </a:r>
          </a:p>
          <a:p>
            <a:r>
              <a:t>• SpikingConvBlocks</a:t>
            </a:r>
          </a:p>
          <a:p>
            <a:r>
              <a:t>• Skip Connections</a:t>
            </a:r>
          </a:p>
          <a:p>
            <a:r>
              <a:t>• Bipolar Attention</a:t>
            </a:r>
          </a:p>
          <a:p>
            <a:r>
              <a:t>(Bottleneck)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011680"/>
            <a:ext cx="2286000" cy="1645920"/>
          </a:xfrm>
          <a:prstGeom prst="rect">
            <a:avLst/>
          </a:prstGeom>
          <a:solidFill>
            <a:srgbClr val="FFFFC8"/>
          </a:solidFill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CNN UNCERTAINTY AGENT</a:t>
            </a:r>
          </a:p>
          <a:p>
            <a:r>
              <a:t>• 3-layer CNN</a:t>
            </a:r>
          </a:p>
          <a:p>
            <a:r>
              <a:t>• 8-channel Input:</a:t>
            </a:r>
          </a:p>
          <a:p>
            <a:r>
              <a:t>  - 4 segmentation logits</a:t>
            </a:r>
          </a:p>
          <a:p>
            <a:r>
              <a:t>  - 4 image modalities</a:t>
            </a:r>
          </a:p>
          <a:p>
            <a:r>
              <a:t>• Per-pixel timestep prediction</a:t>
            </a:r>
          </a:p>
          <a:p>
            <a:r>
              <a:t>• Lightweight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840480"/>
            <a:ext cx="4572000" cy="1097280"/>
          </a:xfrm>
          <a:prstGeom prst="rect">
            <a:avLst/>
          </a:prstGeom>
          <a:solidFill>
            <a:srgbClr val="C8FFC8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ADAPTIVE TEMPORAL CONTROLLER</a:t>
            </a:r>
          </a:p>
          <a:p>
            <a:r>
              <a:t>• Dynamic timestep allocation (T=1 to T=4)</a:t>
            </a:r>
          </a:p>
          <a:p>
            <a:r>
              <a:t>• Background regions: minimal processing</a:t>
            </a:r>
          </a:p>
          <a:p>
            <a:r>
              <a:t>• Tumor regions: full temporal resolution</a:t>
            </a:r>
          </a:p>
          <a:p>
            <a:r>
              <a:t>• Selective spike processing</a:t>
            </a:r>
          </a:p>
          <a:p>
            <a:r>
              <a:t>• 25% energy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120640"/>
            <a:ext cx="1828800" cy="548640"/>
          </a:xfrm>
          <a:prstGeom prst="rect">
            <a:avLst/>
          </a:prstGeom>
          <a:solidFill>
            <a:srgbClr val="DCFFDC"/>
          </a:solidFill>
        </p:spPr>
        <p:txBody>
          <a:bodyPr wrap="none">
            <a:spAutoFit/>
          </a:bodyPr>
          <a:lstStyle/>
          <a:p>
            <a:r>
              <a:t>Segmentation Mask</a:t>
            </a:r>
          </a:p>
          <a:p>
            <a:r>
              <a:t>(Background, Necrotic,</a:t>
            </a:r>
          </a:p>
          <a:p>
            <a:r>
              <a:t>Edema, Enhancing)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468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468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</a:t>
            </a:r>
          </a:p>
          <a:p>
            <a:r>
              <a:t>• BraTS 2023 Glioma Segmentation Challenge</a:t>
            </a:r>
          </a:p>
          <a:p>
            <a:r>
              <a:t>• 1,251 patients with pre-operative MRI</a:t>
            </a:r>
          </a:p>
          <a:p>
            <a:r>
              <a:t>• Multimodal: T1, T1c, T2, FLAIR</a:t>
            </a:r>
          </a:p>
          <a:p>
            <a:r>
              <a:t>• Ground truth: Background, Necrotic, Edema, Enhancing</a:t>
            </a:r>
          </a:p>
          <a:p/>
          <a:p>
            <a:r>
              <a:t>Evaluation Metrics:</a:t>
            </a:r>
          </a:p>
          <a:p>
            <a:r>
              <a:t>• Dice Coefficient (primary)</a:t>
            </a:r>
          </a:p>
          <a:p>
            <a:r>
              <a:t>• Hausdorff Distance 95th percentile</a:t>
            </a:r>
          </a:p>
          <a:p>
            <a:r>
              <a:t>• Energy consumption (relative to baseline)</a:t>
            </a:r>
          </a:p>
          <a:p/>
          <a:p>
            <a:r>
              <a:t>Implementation:</a:t>
            </a:r>
          </a:p>
          <a:p>
            <a:r>
              <a:t>• PyTorch + SNNTorch framework</a:t>
            </a:r>
          </a:p>
          <a:p>
            <a:r>
              <a:t>• Multi-GPU training (RTX 4090)</a:t>
            </a:r>
          </a:p>
          <a:p>
            <a:r>
              <a:t>• 20 epochs with two-phase training</a:t>
            </a:r>
          </a:p>
          <a:p>
            <a:r>
              <a:t>• Batch size 4 with gradient accumulation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Results:</a:t>
            </a:r>
          </a:p>
          <a:p>
            <a:r>
              <a:t>• Dice Coefficient: 0.7410</a:t>
            </a:r>
          </a:p>
          <a:p>
            <a:r>
              <a:t>• HD95: 2.412 pixels</a:t>
            </a:r>
          </a:p>
          <a:p>
            <a:r>
              <a:t>• Energy Reduction: 25.26%</a:t>
            </a:r>
          </a:p>
          <a:p/>
          <a:p>
            <a:r>
              <a:t>Comparison with Baselines:</a:t>
            </a:r>
          </a:p>
          <a:p>
            <a:r>
              <a:t>• Static SNN (T=4): Dice 0.7386, Energy 100%</a:t>
            </a:r>
          </a:p>
          <a:p>
            <a:r>
              <a:t>• CNN U-Net: Dice 0.7200, Energy 100%</a:t>
            </a:r>
          </a:p>
          <a:p>
            <a:r>
              <a:t>• Our Adaptive SNN: Best performance with 25% savings</a:t>
            </a:r>
          </a:p>
          <a:p/>
          <a:p>
            <a:r>
              <a:t>Ablation Studies:</a:t>
            </a:r>
          </a:p>
          <a:p>
            <a:r>
              <a:t>• T=1 Static: Dice 0.715, Energy 25%</a:t>
            </a:r>
          </a:p>
          <a:p>
            <a:r>
              <a:t>• T=2 Static: Dice 0.728, Energy 50%</a:t>
            </a:r>
          </a:p>
          <a:p>
            <a:r>
              <a:t>• T=4 Static: Dice 0.739, Energy 100%</a:t>
            </a:r>
          </a:p>
          <a:p>
            <a:r>
              <a:t>• Adaptive (1-4): Dice 0.741, Energy 75%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• Adaptive temporal processing improves accuracy beyond uniform processing</a:t>
            </a:r>
          </a:p>
          <a:p>
            <a:r>
              <a:t>• 25% energy reduction enables real-time clinical deployment</a:t>
            </a:r>
          </a:p>
          <a:p>
            <a:r>
              <a:t>• CNN uncertainty agent successfully identifies regions needing full processing</a:t>
            </a:r>
          </a:p>
          <a:p/>
          <a:p>
            <a:r>
              <a:t>Advantages:</a:t>
            </a:r>
          </a:p>
          <a:p>
            <a:r>
              <a:t>• Maintains edge precision critical for medical applications</a:t>
            </a:r>
          </a:p>
          <a:p>
            <a:r>
              <a:t>• Reduces computational overhead in background regions</a:t>
            </a:r>
          </a:p>
          <a:p>
            <a:r>
              <a:t>• Scales with tumor complexity</a:t>
            </a:r>
          </a:p>
          <a:p/>
          <a:p>
            <a:r>
              <a:t>Limitations:</a:t>
            </a:r>
          </a:p>
          <a:p>
            <a:r>
              <a:t>• Two-phase training increases complexity</a:t>
            </a:r>
          </a:p>
          <a:p>
            <a:r>
              <a:t>• Memory overhead from timestep prediction</a:t>
            </a:r>
          </a:p>
          <a:p>
            <a:r>
              <a:t>• Sensitivity to agent architecture</a:t>
            </a:r>
          </a:p>
          <a:p/>
          <a:p>
            <a:r>
              <a:t>Clinical Impact:</a:t>
            </a:r>
          </a:p>
          <a:p>
            <a:r>
              <a:t>• Enables deployment on edge devices</a:t>
            </a:r>
          </a:p>
          <a:p>
            <a:r>
              <a:t>• Reduces energy consumption in clinical workflows</a:t>
            </a:r>
          </a:p>
          <a:p>
            <a:r>
              <a:t>• Maintains diagnostic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• Presented adaptive timestep SNN for brain tumor segmentation</a:t>
            </a:r>
          </a:p>
          <a:p>
            <a:r>
              <a:t>• Achieves 25.26% energy reduction with improved accuracy</a:t>
            </a:r>
          </a:p>
          <a:p>
            <a:r>
              <a:t>• CNN uncertainty agent enables intelligent resource allocation</a:t>
            </a:r>
          </a:p>
          <a:p/>
          <a:p>
            <a:r>
              <a:t>Contributions:</a:t>
            </a:r>
          </a:p>
          <a:p>
            <a:r>
              <a:t>• Novel adaptive temporal processing framework</a:t>
            </a:r>
          </a:p>
          <a:p>
            <a:r>
              <a:t>• Energy-efficient medical image segmentation</a:t>
            </a:r>
          </a:p>
          <a:p>
            <a:r>
              <a:t>• Comprehensive evaluation on BraTS 2023</a:t>
            </a:r>
          </a:p>
          <a:p/>
          <a:p>
            <a:r>
              <a:t>Impact:</a:t>
            </a:r>
          </a:p>
          <a:p>
            <a:r>
              <a:t>• Advances energy-efficient deep learning for healthcare</a:t>
            </a:r>
          </a:p>
          <a:p>
            <a:r>
              <a:t>• Enables sustainable AI deployment in clinical settings</a:t>
            </a:r>
          </a:p>
          <a:p>
            <a:r>
              <a:t>• Opens new directions for adaptive computing in medical imaging</a:t>
            </a:r>
          </a:p>
          <a:p/>
          <a:p>
            <a:r>
              <a:t>The work demonstrates that intelligent temporal adaptation can significantly improve the efficiency of Spiking Neural Networks while maintaining critical medical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Short-term:</a:t>
            </a:r>
          </a:p>
          <a:p>
            <a:r>
              <a:t>• Multi-scale temporal adaptation</a:t>
            </a:r>
          </a:p>
          <a:p>
            <a:r>
              <a:t>• Cross-validation on additional datasets</a:t>
            </a:r>
          </a:p>
          <a:p>
            <a:r>
              <a:t>• Hardware-specific optimizations</a:t>
            </a:r>
          </a:p>
          <a:p/>
          <a:p>
            <a:r>
              <a:t>Medium-term:</a:t>
            </a:r>
          </a:p>
          <a:p>
            <a:r>
              <a:t>• Extension to other medical imaging tasks</a:t>
            </a:r>
          </a:p>
          <a:p>
            <a:r>
              <a:t>• Integration with clinical workflows</a:t>
            </a:r>
          </a:p>
          <a:p>
            <a:r>
              <a:t>• Real-time processing optimization</a:t>
            </a:r>
          </a:p>
          <a:p/>
          <a:p>
            <a:r>
              <a:t>Long-term:</a:t>
            </a:r>
          </a:p>
          <a:p>
            <a:r>
              <a:t>• Neuromorphic hardware deployment</a:t>
            </a:r>
          </a:p>
          <a:p>
            <a:r>
              <a:t>• Multi-modal uncertainty estimation</a:t>
            </a:r>
          </a:p>
          <a:p>
            <a:r>
              <a:t>• Self-supervised learning approaches</a:t>
            </a:r>
          </a:p>
          <a:p/>
          <a:p>
            <a:r>
              <a:t>Research Directions:</a:t>
            </a:r>
          </a:p>
          <a:p>
            <a:r>
              <a:t>• Adaptive architectures for other domains</a:t>
            </a:r>
          </a:p>
          <a:p>
            <a:r>
              <a:t>• Energy-accuracy trade-offs in medical AI</a:t>
            </a:r>
          </a:p>
          <a:p>
            <a:r>
              <a:t>• Sustainable deep learning frameworks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attention!</a:t>
            </a:r>
          </a:p>
          <a:p/>
          <a:p>
            <a:r>
              <a:t>Questions?</a:t>
            </a:r>
          </a:p>
          <a:p/>
          <a:p>
            <a:r>
              <a:t>Contact:</a:t>
            </a:r>
          </a:p>
          <a:p>
            <a:r>
              <a:t>[Your Email]</a:t>
            </a:r>
          </a:p>
          <a:p>
            <a:r>
              <a:t>[Your Institution]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